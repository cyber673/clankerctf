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 horzBarState="maximized">
    <p:restoredLeft sz="4901"/>
    <p:restoredTop sz="94610"/>
  </p:normalViewPr>
  <p:slideViewPr>
    <p:cSldViewPr snapToGrid="0" snapToObjects="1">
      <p:cViewPr varScale="1">
        <p:scale>
          <a:sx n="232" d="100"/>
          <a:sy n="232" d="100"/>
        </p:scale>
        <p:origin x="176" y="1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750699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82296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00F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cyber673</a:t>
            </a:r>
            <a:r>
              <a:rPr lang="en-US" sz="5200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×  </a:t>
            </a:r>
            <a:r>
              <a:rPr lang="en-US" sz="5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RE:HACK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2743200" y="1691640"/>
            <a:ext cx="3657600" cy="45720"/>
          </a:xfrm>
          <a:prstGeom prst="rect">
            <a:avLst/>
          </a:prstGeom>
          <a:solidFill>
            <a:srgbClr val="00FF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</a:rPr>
              <a:t>Agents &amp; Skills for CTF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457200" y="2651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CCCCCC"/>
                </a:solidFill>
              </a:rPr>
              <a:t>101 edition — create in one chat, solve in another</a:t>
            </a:r>
            <a:endParaRPr lang="en-US" sz="18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6200" y="3200400"/>
            <a:ext cx="1097280" cy="10972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4434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73152" cy="548640"/>
          </a:xfrm>
          <a:prstGeom prst="rect">
            <a:avLst/>
          </a:prstGeom>
          <a:solidFill>
            <a:srgbClr val="00FF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$ whoami</a:t>
            </a:r>
            <a:endParaRPr lang="en-US" sz="30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457200"/>
            <a:ext cx="731520" cy="7315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" y="1005840"/>
            <a:ext cx="7863840" cy="3483714"/>
          </a:xfrm>
          <a:prstGeom prst="rect">
            <a:avLst/>
          </a:prstGeom>
          <a:solidFill>
            <a:srgbClr val="0F0F0F"/>
          </a:solidFill>
          <a:ln w="12700">
            <a:solidFill>
              <a:srgbClr val="3399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868680" y="1325880"/>
            <a:ext cx="74066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F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whoami</a:t>
            </a:r>
            <a:endParaRPr lang="en-US" sz="1800" dirty="0"/>
          </a:p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</a:t>
            </a:r>
            <a:r>
              <a:rPr lang="en-US" sz="1600" dirty="0" err="1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clanker</a:t>
            </a:r>
            <a:r>
              <a:rPr lang="en-US" sz="16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-slave aka iz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 </a:t>
            </a:r>
            <a:endParaRPr lang="en-US" sz="1800" dirty="0"/>
          </a:p>
          <a:p>
            <a:pPr marL="0" indent="0">
              <a:buNone/>
            </a:pPr>
            <a:r>
              <a:rPr lang="en-US" sz="1800" b="1" dirty="0">
                <a:solidFill>
                  <a:srgbClr val="00F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cat role.txt</a:t>
            </a:r>
            <a:endParaRPr lang="en-US" sz="1800" dirty="0"/>
          </a:p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Consultant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 </a:t>
            </a:r>
            <a:endParaRPr lang="en-US" sz="1800" dirty="0"/>
          </a:p>
          <a:p>
            <a:pPr marL="0" indent="0">
              <a:buNone/>
            </a:pPr>
            <a:r>
              <a:rPr lang="en-US" sz="1800" b="1" dirty="0">
                <a:solidFill>
                  <a:srgbClr val="00F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ls ~/.things-i-do/</a:t>
            </a:r>
            <a:endParaRPr lang="en-US" sz="1800" dirty="0"/>
          </a:p>
          <a:p>
            <a:pPr marL="0" indent="0">
              <a:buNone/>
            </a:pPr>
            <a:r>
              <a:rPr lang="en-US" sz="1400" dirty="0">
                <a:solidFill>
                  <a:srgbClr val="66FF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cyber stuff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 </a:t>
            </a:r>
            <a:endParaRPr lang="en-US" sz="1800" dirty="0"/>
          </a:p>
          <a:p>
            <a:pPr marL="0" indent="0">
              <a:buNone/>
            </a:pPr>
            <a:r>
              <a:rPr lang="en-US" sz="1800" b="1" dirty="0">
                <a:solidFill>
                  <a:srgbClr val="00F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cat contact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</a:t>
            </a:r>
            <a:r>
              <a:rPr lang="en-US" sz="1400" dirty="0" err="1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izdiwho.com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39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cyber673</a:t>
            </a:r>
            <a:r>
              <a:rPr lang="en-US" sz="1000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× </a:t>
            </a:r>
            <a:r>
              <a:rPr lang="en-US" sz="1000" b="1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RE:HACK</a:t>
            </a:r>
            <a:r>
              <a:rPr lang="en-US" sz="1000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|   Agents &amp; Skills for CTF — 101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7589520" y="47091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339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/ 19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73152" cy="548640"/>
          </a:xfrm>
          <a:prstGeom prst="rect">
            <a:avLst/>
          </a:prstGeom>
          <a:solidFill>
            <a:srgbClr val="00FF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Before we start</a:t>
            </a:r>
            <a:endParaRPr lang="en-US" sz="30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457200"/>
            <a:ext cx="731520" cy="7315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" y="1188720"/>
            <a:ext cx="7863840" cy="640080"/>
          </a:xfrm>
          <a:prstGeom prst="rect">
            <a:avLst/>
          </a:prstGeom>
          <a:solidFill>
            <a:srgbClr val="0F0F0F"/>
          </a:solidFill>
          <a:ln w="12700">
            <a:solidFill>
              <a:srgbClr val="FFAA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640080" y="118872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AA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This is a 101.  Not a deep dive.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640080" y="1965960"/>
            <a:ext cx="7863840" cy="2697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What this is</a:t>
            </a:r>
            <a:endParaRPr lang="en-US" sz="1800" dirty="0"/>
          </a:p>
          <a:p>
            <a:pPr marL="342900" indent="-342900">
              <a:buSzPct val="100000"/>
              <a:buChar char="▶"/>
            </a:pPr>
            <a:r>
              <a:rPr lang="en-US" sz="1400" dirty="0">
                <a:solidFill>
                  <a:srgbClr val="66FF66"/>
                </a:solidFill>
              </a:rPr>
              <a:t>Enough to get you productive in an hour</a:t>
            </a:r>
            <a:endParaRPr lang="en-US" sz="1800" dirty="0"/>
          </a:p>
          <a:p>
            <a:pPr marL="342900" indent="-342900">
              <a:buSzPct val="100000"/>
              <a:buChar char="▶"/>
            </a:pPr>
            <a:r>
              <a:rPr lang="en-US" sz="1400" dirty="0">
                <a:solidFill>
                  <a:srgbClr val="66FF66"/>
                </a:solidFill>
              </a:rPr>
              <a:t>Three skills + one agent + a working demo flow</a:t>
            </a:r>
            <a:endParaRPr lang="en-US" sz="1800" dirty="0"/>
          </a:p>
          <a:p>
            <a:pPr marL="342900" indent="-342900">
              <a:buSzPct val="100000"/>
              <a:buChar char="▶"/>
            </a:pPr>
            <a:r>
              <a:rPr lang="en-US" sz="1400" dirty="0">
                <a:solidFill>
                  <a:srgbClr val="66FF66"/>
                </a:solidFill>
              </a:rPr>
              <a:t>A repo you can clone and run today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 </a:t>
            </a:r>
            <a:endParaRPr lang="en-US" sz="1800" dirty="0"/>
          </a:p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What this isn't</a:t>
            </a:r>
            <a:endParaRPr lang="en-US" sz="1800" dirty="0"/>
          </a:p>
          <a:p>
            <a:pPr marL="342900" indent="-342900">
              <a:buSzPct val="100000"/>
              <a:buChar char="▶"/>
            </a:pPr>
            <a:r>
              <a:rPr lang="en-US" sz="1400" dirty="0">
                <a:solidFill>
                  <a:srgbClr val="CCCCCC"/>
                </a:solidFill>
              </a:rPr>
              <a:t>A tour of Claude Code internals or the Agent SDK</a:t>
            </a:r>
            <a:endParaRPr lang="en-US" sz="1800" dirty="0"/>
          </a:p>
          <a:p>
            <a:pPr marL="342900" indent="-342900">
              <a:buSzPct val="100000"/>
              <a:buChar char="▶"/>
            </a:pPr>
            <a:r>
              <a:rPr lang="en-US" sz="1400" dirty="0">
                <a:solidFill>
                  <a:srgbClr val="CCCCCC"/>
                </a:solidFill>
              </a:rPr>
              <a:t>Prompt engineering theory or context-window tuning</a:t>
            </a:r>
            <a:endParaRPr lang="en-US" sz="1800" dirty="0"/>
          </a:p>
          <a:p>
            <a:pPr marL="342900" indent="-342900">
              <a:buSzPct val="100000"/>
              <a:buChar char="▶"/>
            </a:pPr>
            <a:r>
              <a:rPr lang="en-US" sz="1400" dirty="0">
                <a:solidFill>
                  <a:srgbClr val="CCCCCC"/>
                </a:solidFill>
              </a:rPr>
              <a:t>Category-deep CTF tradecraft (we keep it generalist)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 </a:t>
            </a:r>
            <a:endParaRPr lang="en-US" sz="1800" dirty="0"/>
          </a:p>
          <a:p>
            <a:pPr marL="0" indent="0">
              <a:buNone/>
            </a:pPr>
            <a:r>
              <a:rPr lang="en-US" sz="1300" i="1" dirty="0">
                <a:solidFill>
                  <a:srgbClr val="339933"/>
                </a:solidFill>
              </a:rPr>
              <a:t>If you want depth on any of these, come find me after.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39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cyber673</a:t>
            </a:r>
            <a:r>
              <a:rPr lang="en-US" sz="1000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× </a:t>
            </a:r>
            <a:r>
              <a:rPr lang="en-US" sz="1000" b="1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RE:HACK</a:t>
            </a:r>
            <a:r>
              <a:rPr lang="en-US" sz="1000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|   Agents &amp; Skills for CTF — 101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7589520" y="47091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339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/ 19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73152" cy="548640"/>
          </a:xfrm>
          <a:prstGeom prst="rect">
            <a:avLst/>
          </a:prstGeom>
          <a:solidFill>
            <a:srgbClr val="00FF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Agenda</a:t>
            </a:r>
            <a:endParaRPr lang="en-US" sz="30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457200"/>
            <a:ext cx="731520" cy="7315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1280160"/>
            <a:ext cx="78638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60 minutes, three parts</a:t>
            </a:r>
            <a:endParaRPr lang="en-US" sz="2200" dirty="0"/>
          </a:p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 </a:t>
            </a:r>
            <a:endParaRPr lang="en-US" sz="2200" dirty="0"/>
          </a:p>
          <a:p>
            <a:pPr marL="342900" indent="-342900">
              <a:buSzPct val="100000"/>
              <a:buChar char="▶"/>
            </a:pPr>
            <a:r>
              <a:rPr lang="en-US" sz="1800" dirty="0">
                <a:solidFill>
                  <a:srgbClr val="66FF66"/>
                </a:solidFill>
              </a:rPr>
              <a:t>Part 1 — What are Agents and Skills (15 min)</a:t>
            </a:r>
            <a:endParaRPr lang="en-US" sz="2200" dirty="0"/>
          </a:p>
          <a:p>
            <a:pPr marL="342900" indent="-342900">
              <a:buSzPct val="100000"/>
              <a:buChar char="▶"/>
            </a:pPr>
            <a:r>
              <a:rPr lang="en-US" sz="1800" dirty="0">
                <a:solidFill>
                  <a:srgbClr val="66FF66"/>
                </a:solidFill>
              </a:rPr>
              <a:t>Part 2 — Three skills + one agent for CTF (15 min)</a:t>
            </a:r>
            <a:endParaRPr lang="en-US" sz="2200" dirty="0"/>
          </a:p>
          <a:p>
            <a:pPr marL="342900" indent="-342900">
              <a:buSzPct val="100000"/>
              <a:buChar char="▶"/>
            </a:pPr>
            <a:r>
              <a:rPr lang="en-US" sz="1800" dirty="0">
                <a:solidFill>
                  <a:srgbClr val="00FF00"/>
                </a:solidFill>
              </a:rPr>
              <a:t>Part 3 — Live demo: create then solve (25 min)</a:t>
            </a:r>
            <a:endParaRPr lang="en-US" sz="2200" dirty="0"/>
          </a:p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 </a:t>
            </a:r>
            <a:endParaRPr lang="en-US" sz="2200" dirty="0"/>
          </a:p>
          <a:p>
            <a:pPr marL="342900" indent="-342900">
              <a:buSzPct val="100000"/>
              <a:buChar char="▶"/>
            </a:pPr>
            <a:r>
              <a:rPr lang="en-US" sz="1800" dirty="0">
                <a:solidFill>
                  <a:srgbClr val="66FF66"/>
                </a:solidFill>
              </a:rPr>
              <a:t>Wrap — install + Q&amp;A (5 min)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39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cyber673</a:t>
            </a:r>
            <a:r>
              <a:rPr lang="en-US" sz="1000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× </a:t>
            </a:r>
            <a:r>
              <a:rPr lang="en-US" sz="1000" b="1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RE:HACK</a:t>
            </a:r>
            <a:r>
              <a:rPr lang="en-US" sz="1000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|   Agents &amp; Skills for CTF — 101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7589520" y="47091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339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/ 19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73152" cy="548640"/>
          </a:xfrm>
          <a:prstGeom prst="rect">
            <a:avLst/>
          </a:prstGeom>
          <a:solidFill>
            <a:srgbClr val="00FF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What is a Skill?</a:t>
            </a:r>
            <a:endParaRPr lang="en-US" sz="30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457200"/>
            <a:ext cx="731520" cy="7315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1280160"/>
            <a:ext cx="786384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A folder with a SKILL.md inside it</a:t>
            </a:r>
            <a:endParaRPr lang="en-US" sz="2200" dirty="0"/>
          </a:p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 </a:t>
            </a:r>
            <a:endParaRPr lang="en-US" sz="22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66FF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Lives in  ~/.claude/skills/&lt;name&gt;/SKILL.md</a:t>
            </a:r>
            <a:endParaRPr lang="en-US" sz="22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66FF66"/>
                </a:solidFill>
              </a:rPr>
              <a:t>YAML frontmatter: name + description</a:t>
            </a:r>
            <a:endParaRPr lang="en-US" sz="22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66FF66"/>
                </a:solidFill>
              </a:rPr>
              <a:t>Body: instructions Claude reads on-demand</a:t>
            </a:r>
            <a:endParaRPr lang="en-US" sz="22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66FF66"/>
                </a:solidFill>
              </a:rPr>
              <a:t>Triggered by keywords in the description, or /slash</a:t>
            </a:r>
            <a:endParaRPr lang="en-US" sz="2200" dirty="0"/>
          </a:p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 </a:t>
            </a:r>
            <a:endParaRPr lang="en-US" sz="2200" dirty="0"/>
          </a:p>
          <a:p>
            <a:pPr marL="0" indent="0">
              <a:buNone/>
            </a:pPr>
            <a:r>
              <a:rPr lang="en-US" sz="1600" i="1" dirty="0">
                <a:solidFill>
                  <a:srgbClr val="CCCCCC"/>
                </a:solidFill>
              </a:rPr>
              <a:t>Think of it as a playbook Claude loads when relevant.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39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cyber673</a:t>
            </a:r>
            <a:r>
              <a:rPr lang="en-US" sz="1000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× </a:t>
            </a:r>
            <a:r>
              <a:rPr lang="en-US" sz="1000" b="1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RE:HACK</a:t>
            </a:r>
            <a:r>
              <a:rPr lang="en-US" sz="1000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|   Agents &amp; Skills for CTF — 101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7589520" y="47091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339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/ 19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73152" cy="548640"/>
          </a:xfrm>
          <a:prstGeom prst="rect">
            <a:avLst/>
          </a:prstGeom>
          <a:solidFill>
            <a:srgbClr val="00FF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What is an Agent (Subagent)?</a:t>
            </a:r>
            <a:endParaRPr lang="en-US" sz="30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457200"/>
            <a:ext cx="731520" cy="7315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1280160"/>
            <a:ext cx="786384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A separate Claude instance with its own context</a:t>
            </a:r>
            <a:endParaRPr lang="en-US" sz="2200" dirty="0"/>
          </a:p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 </a:t>
            </a:r>
            <a:endParaRPr lang="en-US" sz="22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66FF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Lives in  ~/.claude/agents/&lt;name&gt;.md</a:t>
            </a:r>
            <a:endParaRPr lang="en-US" sz="22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66FF66"/>
                </a:solidFill>
              </a:rPr>
              <a:t>Has its own tools, its own system prompt, its own model</a:t>
            </a:r>
            <a:endParaRPr lang="en-US" sz="22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66FF66"/>
                </a:solidFill>
              </a:rPr>
              <a:t>Spawned via the Agent tool, returns one message</a:t>
            </a:r>
            <a:endParaRPr lang="en-US" sz="22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66FF66"/>
                </a:solidFill>
              </a:rPr>
              <a:t>Can clone itself to do work in parallel</a:t>
            </a:r>
            <a:endParaRPr lang="en-US" sz="2200" dirty="0"/>
          </a:p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 </a:t>
            </a:r>
            <a:endParaRPr lang="en-US" sz="2200" dirty="0"/>
          </a:p>
          <a:p>
            <a:pPr marL="0" indent="0">
              <a:buNone/>
            </a:pPr>
            <a:r>
              <a:rPr lang="en-US" sz="1600" i="1" dirty="0">
                <a:solidFill>
                  <a:srgbClr val="CCCCCC"/>
                </a:solidFill>
              </a:rPr>
              <a:t>Think of it as a specialist you brief and dispatch.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39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cyber673</a:t>
            </a:r>
            <a:r>
              <a:rPr lang="en-US" sz="1000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× </a:t>
            </a:r>
            <a:r>
              <a:rPr lang="en-US" sz="1000" b="1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RE:HACK</a:t>
            </a:r>
            <a:r>
              <a:rPr lang="en-US" sz="1000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|   Agents &amp; Skills for CTF — 101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7589520" y="47091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339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/ 19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73152" cy="548640"/>
          </a:xfrm>
          <a:prstGeom prst="rect">
            <a:avLst/>
          </a:prstGeom>
          <a:solidFill>
            <a:srgbClr val="00FF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Skills vs Agents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3931920" cy="3200400"/>
          </a:xfrm>
          <a:prstGeom prst="rect">
            <a:avLst/>
          </a:prstGeom>
          <a:solidFill>
            <a:srgbClr val="0F0F0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41732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34440" y="14173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FF00"/>
                </a:solidFill>
              </a:rPr>
              <a:t>Skills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822960" y="2011680"/>
            <a:ext cx="34747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CCCCCC"/>
                </a:solidFill>
              </a:rPr>
              <a:t>Instructions loaded into the current chat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CCCCCC"/>
                </a:solidFill>
              </a:rPr>
              <a:t>Keyword-triggered or /slash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CCCCCC"/>
                </a:solidFill>
              </a:rPr>
              <a:t>Good for: recipes, workflows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CCCCCC"/>
                </a:solidFill>
              </a:rPr>
              <a:t>No isolated context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66FF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Example:  /ctf-create web easy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754880" y="1280160"/>
            <a:ext cx="3931920" cy="3200400"/>
          </a:xfrm>
          <a:prstGeom prst="rect">
            <a:avLst/>
          </a:prstGeom>
          <a:solidFill>
            <a:srgbClr val="0F0F0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1417320"/>
            <a:ext cx="457200" cy="4572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532120" y="14173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FF00"/>
                </a:solidFill>
              </a:rPr>
              <a:t>Agents</a:t>
            </a:r>
            <a:endParaRPr lang="en-US" sz="2200" dirty="0"/>
          </a:p>
        </p:txBody>
      </p:sp>
      <p:sp>
        <p:nvSpPr>
          <p:cNvPr id="11" name="Text 7"/>
          <p:cNvSpPr/>
          <p:nvPr/>
        </p:nvSpPr>
        <p:spPr>
          <a:xfrm>
            <a:off x="4937760" y="2011680"/>
            <a:ext cx="34747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CCCCCC"/>
                </a:solidFill>
              </a:rPr>
              <a:t>Fresh isolated context window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CCCCCC"/>
                </a:solidFill>
              </a:rPr>
              <a:t>Brief in, single message out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CCCCCC"/>
                </a:solidFill>
              </a:rPr>
              <a:t>Good for: heavy lifting, parallel work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CCCCCC"/>
                </a:solidFill>
              </a:rPr>
              <a:t>Own tools, own model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66FF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Example:  spawn ctf to solve a chal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39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cyber673</a:t>
            </a:r>
            <a:r>
              <a:rPr lang="en-US" sz="1000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× </a:t>
            </a:r>
            <a:r>
              <a:rPr lang="en-US" sz="1000" b="1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RE:HACK</a:t>
            </a:r>
            <a:r>
              <a:rPr lang="en-US" sz="1000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|   Agents &amp; Skills for CTF — 101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7589520" y="47091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339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 / 19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73152" cy="548640"/>
          </a:xfrm>
          <a:prstGeom prst="rect">
            <a:avLst/>
          </a:prstGeom>
          <a:solidFill>
            <a:srgbClr val="00FF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How they fit together</a:t>
            </a:r>
            <a:endParaRPr lang="en-US" sz="30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457200"/>
            <a:ext cx="731520" cy="7315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1280160"/>
            <a:ext cx="786384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F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 types:   /ctf-solve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 </a:t>
            </a:r>
            <a:endParaRPr lang="en-US" sz="1800" dirty="0"/>
          </a:p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</a:rPr>
              <a:t>1. Skill loads:  ctf-solve/SKILL.md</a:t>
            </a:r>
            <a:endParaRPr lang="en-US" sz="1800" dirty="0"/>
          </a:p>
          <a:p>
            <a:pPr marL="0" indent="0">
              <a:buNone/>
            </a:pPr>
            <a:r>
              <a:rPr lang="en-US" sz="1300" dirty="0">
                <a:solidFill>
                  <a:srgbClr val="CCCCCC"/>
                </a:solidFill>
              </a:rPr>
              <a:t>   tells Claude how to scope work + how to brief the agent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 </a:t>
            </a:r>
            <a:endParaRPr lang="en-US" sz="1800" dirty="0"/>
          </a:p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</a:rPr>
              <a:t>2. Agent dispatch:  the ctf agent (opus)</a:t>
            </a:r>
            <a:endParaRPr lang="en-US" sz="1800" dirty="0"/>
          </a:p>
          <a:p>
            <a:pPr marL="0" indent="0">
              <a:buNone/>
            </a:pPr>
            <a:r>
              <a:rPr lang="en-US" sz="1300" dirty="0">
                <a:solidFill>
                  <a:srgbClr val="CCCCCC"/>
                </a:solidFill>
              </a:rPr>
              <a:t>   clean context, its own tool belt, focused on solving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 </a:t>
            </a:r>
            <a:endParaRPr lang="en-US" sz="1800" dirty="0"/>
          </a:p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</a:rPr>
              <a:t>3. Agent may clone itself per challenge for parallel work</a:t>
            </a:r>
            <a:endParaRPr lang="en-US" sz="1800" dirty="0"/>
          </a:p>
          <a:p>
            <a:pPr marL="0" indent="0">
              <a:buNone/>
            </a:pPr>
            <a:r>
              <a:rPr lang="en-US" sz="1300" dirty="0">
                <a:solidFill>
                  <a:srgbClr val="CCCCCC"/>
                </a:solidFill>
              </a:rPr>
              <a:t>   each clone returns flag + script + writeup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 </a:t>
            </a:r>
            <a:endParaRPr lang="en-US" sz="1800" dirty="0"/>
          </a:p>
          <a:p>
            <a:pPr marL="0" indent="0">
              <a:buNone/>
            </a:pPr>
            <a:r>
              <a:rPr lang="en-US" sz="1600" b="1" i="1" dirty="0">
                <a:solidFill>
                  <a:srgbClr val="66FF66"/>
                </a:solidFill>
              </a:rPr>
              <a:t>Skill = the playbook.   Agent = the operator.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39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cyber673</a:t>
            </a:r>
            <a:r>
              <a:rPr lang="en-US" sz="1000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× </a:t>
            </a:r>
            <a:r>
              <a:rPr lang="en-US" sz="1000" b="1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RE:HACK</a:t>
            </a:r>
            <a:r>
              <a:rPr lang="en-US" sz="1000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|   Agents &amp; Skills for CTF — 101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7589520" y="47091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339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 / 19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73152" cy="548640"/>
          </a:xfrm>
          <a:prstGeom prst="rect">
            <a:avLst/>
          </a:prstGeom>
          <a:solidFill>
            <a:srgbClr val="00FF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What we're shipping</a:t>
            </a:r>
            <a:endParaRPr lang="en-US" sz="30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457200"/>
            <a:ext cx="731520" cy="7315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118872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Three skills + one agent + one bonus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640080" y="1691640"/>
            <a:ext cx="7863840" cy="502920"/>
          </a:xfrm>
          <a:prstGeom prst="rect">
            <a:avLst/>
          </a:prstGeom>
          <a:solidFill>
            <a:srgbClr val="0F0F0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777240" y="169164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F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/ctf-fetch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2606040" y="1691640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9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Skill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3337560" y="169164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CCCCC"/>
                </a:solidFill>
              </a:rPr>
              <a:t>Pull every challenge from a CTFd instance into a local workspace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40080" y="2240280"/>
            <a:ext cx="7863840" cy="502920"/>
          </a:xfrm>
          <a:prstGeom prst="rect">
            <a:avLst/>
          </a:prstGeom>
          <a:solidFill>
            <a:srgbClr val="0F0F0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777240" y="224028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F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/ctf-solve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2606040" y="2240280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9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Skill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3337560" y="224028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CCCCC"/>
                </a:solidFill>
              </a:rPr>
              <a:t>Dispatch the ctf agent to solve everything in scope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40080" y="2788920"/>
            <a:ext cx="7863840" cy="502920"/>
          </a:xfrm>
          <a:prstGeom prst="rect">
            <a:avLst/>
          </a:prstGeom>
          <a:solidFill>
            <a:srgbClr val="0F0F0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777240" y="278892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F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/ctf-create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2606040" y="2788920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9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Skill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3337560" y="278892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CCCCC"/>
                </a:solidFill>
              </a:rPr>
              <a:t>Author a complete challenge: artifact, Dockerfile, solve.py, writeup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640080" y="3337560"/>
            <a:ext cx="7863840" cy="502920"/>
          </a:xfrm>
          <a:prstGeom prst="rect">
            <a:avLst/>
          </a:prstGeom>
          <a:solidFill>
            <a:srgbClr val="0F0F0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777240" y="333756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F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ctf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2606040" y="3337560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9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3337560" y="333756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CCCCC"/>
                </a:solidFill>
              </a:rPr>
              <a:t>The solver. Opus, full tool belt, knows the major categories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640080" y="3886200"/>
            <a:ext cx="7863840" cy="502920"/>
          </a:xfrm>
          <a:prstGeom prst="rect">
            <a:avLst/>
          </a:prstGeom>
          <a:solidFill>
            <a:srgbClr val="0F0F0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777240" y="388620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F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/ctfd-design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2606040" y="3886200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9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Bonus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3337560" y="388620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CCCCC"/>
                </a:solidFill>
              </a:rPr>
              <a:t>Skin your CTFd with a custom theme that's not generic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39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cyber673</a:t>
            </a:r>
            <a:r>
              <a:rPr lang="en-US" sz="1000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× </a:t>
            </a:r>
            <a:r>
              <a:rPr lang="en-US" sz="1000" b="1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RE:HACK</a:t>
            </a:r>
            <a:r>
              <a:rPr lang="en-US" sz="1000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|   Agents &amp; Skills for CTF — 101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7589520" y="47091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339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 / 19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73152" cy="548640"/>
          </a:xfrm>
          <a:prstGeom prst="rect">
            <a:avLst/>
          </a:prstGeom>
          <a:solidFill>
            <a:srgbClr val="00FF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/ctf-fetch — workspace bootstrap</a:t>
            </a:r>
            <a:endParaRPr lang="en-US" sz="30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457200"/>
            <a:ext cx="731520" cy="7315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1280160"/>
            <a:ext cx="786384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F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/ctf-fetch &lt;ctfd_url&gt; &lt;api_key&gt;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 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66FF66"/>
                </a:solidFill>
              </a:rPr>
              <a:t>Hits CTFd v3.x API, downloads every challenge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66FF66"/>
                </a:solidFill>
              </a:rPr>
              <a:t>Organizes by category:  web/  crypto/  pwn/  forensics/  misc/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66FF66"/>
                </a:solidFill>
              </a:rPr>
              <a:t>Per challenge: README.md, handout files, solve.py template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66FF66"/>
                </a:solidFill>
              </a:rPr>
              <a:t>Writes a master INDEX.md with totals + checklist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 </a:t>
            </a:r>
            <a:endParaRPr lang="en-US" sz="1800" dirty="0"/>
          </a:p>
          <a:p>
            <a:pPr marL="0" indent="0">
              <a:buNone/>
            </a:pPr>
            <a:r>
              <a:rPr lang="en-US" sz="1400" i="1" dirty="0">
                <a:solidFill>
                  <a:srgbClr val="CCCCCC"/>
                </a:solidFill>
              </a:rPr>
              <a:t>API token:  CTFd → User Settings → Access Tokens</a:t>
            </a:r>
            <a:endParaRPr lang="en-US" sz="18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Hand-off:   /ctf-fetch  →  /ctf-solve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39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cyber673</a:t>
            </a:r>
            <a:r>
              <a:rPr lang="en-US" sz="1000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× </a:t>
            </a:r>
            <a:r>
              <a:rPr lang="en-US" sz="1000" b="1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RE:HACK</a:t>
            </a:r>
            <a:r>
              <a:rPr lang="en-US" sz="1000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|   Agents &amp; Skills for CTF — 101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7589520" y="47091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339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/ 19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73152" cy="548640"/>
          </a:xfrm>
          <a:prstGeom prst="rect">
            <a:avLst/>
          </a:prstGeom>
          <a:solidFill>
            <a:srgbClr val="00FF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/ctf-solve  →  the ctf agent</a:t>
            </a:r>
            <a:endParaRPr lang="en-US" sz="30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457200"/>
            <a:ext cx="731520" cy="7315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1188720"/>
            <a:ext cx="786384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Skill — dispatches the ctf agent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66FF66"/>
                </a:solidFill>
              </a:rPr>
              <a:t>Scope: all / one category / one challenge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66FF66"/>
                </a:solidFill>
              </a:rPr>
              <a:t>Briefs agent with workspace path + scope + deliverables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66FF66"/>
                </a:solidFill>
              </a:rPr>
              <a:t>Deliverable: flag.txt + solve.py + writeup.md per chal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 </a:t>
            </a:r>
            <a:endParaRPr lang="en-US" sz="1800" dirty="0"/>
          </a:p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Agent (ctf) — the solver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66FF66"/>
                </a:solidFill>
              </a:rPr>
              <a:t>Runs on opus, clean context per invocation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66FF66"/>
                </a:solidFill>
              </a:rPr>
              <a:t>Knows web, pwn, crypto, forensics, rev, misc essentials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66FF66"/>
                </a:solidFill>
              </a:rPr>
              <a:t>Clones itself when there's parallel work to do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66FF66"/>
                </a:solidFill>
              </a:rPr>
              <a:t>Saves artifacts back to each challenge dir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39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cyber673</a:t>
            </a:r>
            <a:r>
              <a:rPr lang="en-US" sz="1000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× </a:t>
            </a:r>
            <a:r>
              <a:rPr lang="en-US" sz="1000" b="1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RE:HACK</a:t>
            </a:r>
            <a:r>
              <a:rPr lang="en-US" sz="1000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|   Agents &amp; Skills for CTF — 101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7589520" y="47091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339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/ 19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73152" cy="548640"/>
          </a:xfrm>
          <a:prstGeom prst="rect">
            <a:avLst/>
          </a:prstGeom>
          <a:solidFill>
            <a:srgbClr val="00FF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/ctf-create — author a challenge</a:t>
            </a:r>
            <a:endParaRPr lang="en-US" sz="30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457200"/>
            <a:ext cx="731520" cy="7315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1188720"/>
            <a:ext cx="786384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F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/ctf-create &lt;category&gt; &lt;difficulty&gt; &lt;vuln&gt;</a:t>
            </a:r>
            <a:endParaRPr lang="en-US" sz="1600" dirty="0"/>
          </a:p>
          <a:p>
            <a:pPr marL="0" indent="0">
              <a:buNone/>
            </a:pPr>
            <a:r>
              <a:rPr lang="en-US" sz="1300" i="1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e.g.  /ctf-create web easy command-injection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 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Every challenge ships with: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66FF66"/>
                </a:solidFill>
              </a:rPr>
              <a:t>Challenge artifact (web app / binary / image / ciphertext)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66FF66"/>
                </a:solidFill>
              </a:rPr>
              <a:t>Dockerfile + docker-compose.yml  (if hosted)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66FF66"/>
                </a:solidFill>
              </a:rPr>
              <a:t>solution/solve.py — programmatic flag capture (gate!)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66FF66"/>
                </a:solidFill>
              </a:rPr>
              <a:t>solution/writeup.md — intended path + gotchas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66FF66"/>
                </a:solidFill>
              </a:rPr>
              <a:t>challenge.yml — CTFd metadata, ready to import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 </a:t>
            </a:r>
            <a:endParaRPr lang="en-US" sz="1600" dirty="0"/>
          </a:p>
          <a:p>
            <a:pPr marL="0" indent="0">
              <a:buNone/>
            </a:pPr>
            <a:r>
              <a:rPr lang="en-US" sz="1300" i="1" dirty="0">
                <a:solidFill>
                  <a:srgbClr val="FFAA00"/>
                </a:solidFill>
              </a:rPr>
              <a:t>Rule: if solve.py can't capture the flag, the challenge isn't ready.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39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cyber673</a:t>
            </a:r>
            <a:r>
              <a:rPr lang="en-US" sz="1000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× </a:t>
            </a:r>
            <a:r>
              <a:rPr lang="en-US" sz="1000" b="1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RE:HACK</a:t>
            </a:r>
            <a:r>
              <a:rPr lang="en-US" sz="1000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|   Agents &amp; Skills for CTF — 101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7589520" y="47091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339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/ 19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828800"/>
            <a:ext cx="9144000" cy="548640"/>
          </a:xfrm>
          <a:prstGeom prst="rect">
            <a:avLst/>
          </a:prstGeom>
          <a:solidFill>
            <a:srgbClr val="00FF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0" y="18288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F0F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LIVE DEMO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2560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clankerctf.cyber673.com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3108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CCCCCC"/>
                </a:solidFill>
              </a:rPr>
              <a:t>Two Claude Code chats, side by side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520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6FF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Chat A:  author + deploy   →   Chat B:  fetch + solve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589520" y="47091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339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/ 19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73152" cy="548640"/>
          </a:xfrm>
          <a:prstGeom prst="rect">
            <a:avLst/>
          </a:prstGeom>
          <a:solidFill>
            <a:srgbClr val="00FF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Demo — Chat A: author + deploy</a:t>
            </a:r>
            <a:endParaRPr lang="en-US" sz="30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457200"/>
            <a:ext cx="731520" cy="7315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1188720"/>
            <a:ext cx="786384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6FF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 /ctf-create web easy command-injection</a:t>
            </a:r>
            <a:endParaRPr lang="en-US" sz="1500" dirty="0"/>
          </a:p>
          <a:p>
            <a:pPr marL="0" indent="0">
              <a:buNone/>
            </a:pPr>
            <a:r>
              <a:rPr lang="en-US" sz="1200" dirty="0">
                <a:solidFill>
                  <a:srgbClr val="CCCCCC"/>
                </a:solidFill>
              </a:rPr>
              <a:t>     walk the generated tree:  app/, Dockerfile, solve.py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000000"/>
                </a:solidFill>
              </a:rPr>
              <a:t> 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66FF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 docker compose up</a:t>
            </a:r>
            <a:endParaRPr lang="en-US" sz="1500" dirty="0"/>
          </a:p>
          <a:p>
            <a:pPr marL="0" indent="0">
              <a:buNone/>
            </a:pPr>
            <a:r>
              <a:rPr lang="en-US" sz="1200" dirty="0">
                <a:solidFill>
                  <a:srgbClr val="CCCCCC"/>
                </a:solidFill>
              </a:rPr>
              <a:t>     python solution/solve.py → flag prints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000000"/>
                </a:solidFill>
              </a:rPr>
              <a:t> 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66FF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 Push to CTFd:  challenge.yml + handout file</a:t>
            </a:r>
            <a:endParaRPr lang="en-US" sz="1500" dirty="0"/>
          </a:p>
          <a:p>
            <a:pPr marL="0" indent="0">
              <a:buNone/>
            </a:pPr>
            <a:r>
              <a:rPr lang="en-US" sz="1200" dirty="0">
                <a:solidFill>
                  <a:srgbClr val="CCCCCC"/>
                </a:solidFill>
              </a:rPr>
              <a:t>     curl POST /api/v1/challenges with admin token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000000"/>
                </a:solidFill>
              </a:rPr>
              <a:t> 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66FF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  Confirm it's live on clankerctf.cyber673.com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000000"/>
                </a:solidFill>
              </a:rPr>
              <a:t> </a:t>
            </a:r>
            <a:endParaRPr lang="en-US" sz="1500" dirty="0"/>
          </a:p>
          <a:p>
            <a:pPr marL="0" indent="0">
              <a:buNone/>
            </a:pPr>
            <a:r>
              <a:rPr lang="en-US" sz="1400" i="1" dirty="0">
                <a:solidFill>
                  <a:srgbClr val="FFAA00"/>
                </a:solidFill>
              </a:rPr>
              <a:t>Now switch windows  →  Chat B has never heard of this challenge.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39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cyber673</a:t>
            </a:r>
            <a:r>
              <a:rPr lang="en-US" sz="1000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× </a:t>
            </a:r>
            <a:r>
              <a:rPr lang="en-US" sz="1000" b="1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RE:HACK</a:t>
            </a:r>
            <a:r>
              <a:rPr lang="en-US" sz="1000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|   Agents &amp; Skills for CTF — 101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7589520" y="47091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339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 / 19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73152" cy="548640"/>
          </a:xfrm>
          <a:prstGeom prst="rect">
            <a:avLst/>
          </a:prstGeom>
          <a:solidFill>
            <a:srgbClr val="00FF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Demo — Chat B: fetch + solve</a:t>
            </a:r>
            <a:endParaRPr lang="en-US" sz="30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457200"/>
            <a:ext cx="731520" cy="7315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1188720"/>
            <a:ext cx="786384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6FF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 /ctf-fetch https://clankerctf.cyber673.com ctfd_xxx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CCCCCC"/>
                </a:solidFill>
              </a:rPr>
              <a:t>     INDEX.md shows the new challenge in the right category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</a:rPr>
              <a:t> 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66FF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 /ctf-solve web/&lt;new-chal&gt;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CCCCCC"/>
                </a:solidFill>
              </a:rPr>
              <a:t>     watch ctf agent triage → hypothesize → exploit → flag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</a:rPr>
              <a:t> 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66FF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 Confirm in CTFd:  submit flag, watch points tick up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</a:rPr>
              <a:t> 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66FF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  Inspect deliverables:  flag.txt  solve.py  writeup.md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</a:rPr>
              <a:t> </a:t>
            </a:r>
            <a:endParaRPr lang="en-US" sz="1400" dirty="0"/>
          </a:p>
          <a:p>
            <a:pPr marL="0" indent="0">
              <a:buNone/>
            </a:pPr>
            <a:r>
              <a:rPr lang="en-US" sz="1600" b="1" dirty="0">
                <a:solidFill>
                  <a:srgbClr val="00FF00"/>
                </a:solidFill>
              </a:rPr>
              <a:t>Full loop: author → deploy → fetch → solve → submit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39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cyber673</a:t>
            </a:r>
            <a:r>
              <a:rPr lang="en-US" sz="1000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× </a:t>
            </a:r>
            <a:r>
              <a:rPr lang="en-US" sz="1000" b="1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RE:HACK</a:t>
            </a:r>
            <a:r>
              <a:rPr lang="en-US" sz="1000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|   Agents &amp; Skills for CTF — 101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7589520" y="47091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339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 / 19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73152" cy="548640"/>
          </a:xfrm>
          <a:prstGeom prst="rect">
            <a:avLst/>
          </a:prstGeom>
          <a:solidFill>
            <a:srgbClr val="00FF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Bonus — /ctfd-design</a:t>
            </a:r>
            <a:endParaRPr lang="en-US" sz="30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457200"/>
            <a:ext cx="731520" cy="7315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1188720"/>
            <a:ext cx="786384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Stop shipping default CTFd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 </a:t>
            </a:r>
            <a:endParaRPr lang="en-US" sz="2000" dirty="0"/>
          </a:p>
          <a:p>
            <a:pPr marL="0" indent="0">
              <a:buNone/>
            </a:pPr>
            <a:r>
              <a:rPr lang="en-US" sz="1600" b="1" dirty="0">
                <a:solidFill>
                  <a:srgbClr val="00F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/ctfd-design &lt;brand-or-vibe&gt;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 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66FF66"/>
                </a:solidFill>
              </a:rPr>
              <a:t>Produces a static HTML mockup first — iterate on the look fast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66FF66"/>
                </a:solidFill>
              </a:rPr>
              <a:t>Then ports it into a drop-in themes/&lt;name&gt;/ folder for CTFd v3.x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66FF66"/>
                </a:solidFill>
              </a:rPr>
              <a:t>Overrides templates + CSS, leaves the rest of core-beta intact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66FF66"/>
                </a:solidFill>
              </a:rPr>
              <a:t>Leans on design-quality skill — passes the AI Slop Test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 </a:t>
            </a:r>
            <a:endParaRPr lang="en-US" sz="2000" dirty="0"/>
          </a:p>
          <a:p>
            <a:pPr marL="0" indent="0">
              <a:buNone/>
            </a:pPr>
            <a:r>
              <a:rPr lang="en-US" sz="1300" i="1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Install:  Admin Panel → Config → Theme → &lt;your-theme&gt;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39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cyber673</a:t>
            </a:r>
            <a:r>
              <a:rPr lang="en-US" sz="1000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× </a:t>
            </a:r>
            <a:r>
              <a:rPr lang="en-US" sz="1000" b="1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RE:HACK</a:t>
            </a:r>
            <a:r>
              <a:rPr lang="en-US" sz="1000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|   Agents &amp; Skills for CTF — 101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7589520" y="47091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339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 / 19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73152" cy="548640"/>
          </a:xfrm>
          <a:prstGeom prst="rect">
            <a:avLst/>
          </a:prstGeom>
          <a:solidFill>
            <a:srgbClr val="00FF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Install — grab the repo</a:t>
            </a:r>
            <a:endParaRPr lang="en-US" sz="30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457200"/>
            <a:ext cx="731520" cy="7315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1188720"/>
            <a:ext cx="786384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F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github.com/cyber673/clankerctf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 </a:t>
            </a:r>
            <a:endParaRPr lang="en-US" sz="1600" dirty="0"/>
          </a:p>
          <a:p>
            <a:pPr marL="0" indent="0">
              <a:buNone/>
            </a:pPr>
            <a:r>
              <a:rPr lang="en-US" sz="1300" dirty="0">
                <a:solidFill>
                  <a:srgbClr val="66FF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clone https://github.com/cyber673/clankerctf.git</a:t>
            </a:r>
            <a:endParaRPr lang="en-US" sz="1600" dirty="0"/>
          </a:p>
          <a:p>
            <a:pPr marL="0" indent="0">
              <a:buNone/>
            </a:pPr>
            <a:r>
              <a:rPr lang="en-US" sz="1300" dirty="0">
                <a:solidFill>
                  <a:srgbClr val="66FF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clankerctf/agents-and-skills-for-ctf-101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 </a:t>
            </a:r>
            <a:endParaRPr lang="en-US" sz="1600" dirty="0"/>
          </a:p>
          <a:p>
            <a:pPr marL="0" indent="0">
              <a:buNone/>
            </a:pPr>
            <a:r>
              <a:rPr lang="en-US" sz="1300" i="1" dirty="0">
                <a:solidFill>
                  <a:srgbClr val="339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Claude Code</a:t>
            </a:r>
            <a:endParaRPr lang="en-US" sz="1600" dirty="0"/>
          </a:p>
          <a:p>
            <a:pPr marL="0" indent="0">
              <a:buNone/>
            </a:pPr>
            <a:r>
              <a:rPr lang="en-US" sz="1300" dirty="0">
                <a:solidFill>
                  <a:srgbClr val="66FF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mkdir -p ~/.claude/skills ~/.claude/agents</a:t>
            </a:r>
            <a:endParaRPr lang="en-US" sz="1600" dirty="0"/>
          </a:p>
          <a:p>
            <a:pPr marL="0" indent="0">
              <a:buNone/>
            </a:pPr>
            <a:r>
              <a:rPr lang="en-US" sz="1300" dirty="0">
                <a:solidFill>
                  <a:srgbClr val="66FF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cp -r claude/skills/*    ~/.claude/skills/</a:t>
            </a:r>
            <a:endParaRPr lang="en-US" sz="1600" dirty="0"/>
          </a:p>
          <a:p>
            <a:pPr marL="0" indent="0">
              <a:buNone/>
            </a:pPr>
            <a:r>
              <a:rPr lang="en-US" sz="1300" dirty="0">
                <a:solidFill>
                  <a:srgbClr val="66FF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cp -r claude/agents/*.md ~/.claude/agents/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 </a:t>
            </a:r>
            <a:endParaRPr lang="en-US" sz="1600" dirty="0"/>
          </a:p>
          <a:p>
            <a:pPr marL="0" indent="0">
              <a:buNone/>
            </a:pPr>
            <a:r>
              <a:rPr lang="en-US" sz="1300" i="1" dirty="0">
                <a:solidFill>
                  <a:srgbClr val="339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Codex CLI (alternative)</a:t>
            </a:r>
            <a:endParaRPr lang="en-US" sz="1600" dirty="0"/>
          </a:p>
          <a:p>
            <a:pPr marL="0" indent="0">
              <a:buNone/>
            </a:pPr>
            <a:r>
              <a:rPr lang="en-US" sz="1100" dirty="0">
                <a:solidFill>
                  <a:srgbClr val="66FF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cp -r codex/skills/* ~/.agents/skills/   &amp;&amp;   cp codex/agents/ctf.toml ~/.codex/agents/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 </a:t>
            </a:r>
            <a:endParaRPr lang="en-US" sz="1600" dirty="0"/>
          </a:p>
          <a:p>
            <a:pPr marL="0" indent="0">
              <a:buNone/>
            </a:pPr>
            <a:r>
              <a:rPr lang="en-US" sz="1200" i="1" dirty="0">
                <a:solidFill>
                  <a:srgbClr val="CCCCCC"/>
                </a:solidFill>
              </a:rPr>
              <a:t>Then /ctf-fetch /ctf-solve /ctf-create /ctfd-design should autocomplete.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39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cyber673</a:t>
            </a:r>
            <a:r>
              <a:rPr lang="en-US" sz="1000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× </a:t>
            </a:r>
            <a:r>
              <a:rPr lang="en-US" sz="1000" b="1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RE:HACK</a:t>
            </a:r>
            <a:r>
              <a:rPr lang="en-US" sz="1000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|   Agents &amp; Skills for CTF — 101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7589520" y="47091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339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 / 19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73152" cy="548640"/>
          </a:xfrm>
          <a:prstGeom prst="rect">
            <a:avLst/>
          </a:prstGeom>
          <a:solidFill>
            <a:srgbClr val="00FF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Honest gotchas</a:t>
            </a:r>
            <a:endParaRPr lang="en-US" sz="30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457200"/>
            <a:ext cx="731520" cy="7315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1188720"/>
            <a:ext cx="786384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66FF66"/>
                </a:solidFill>
              </a:rPr>
              <a:t>Skill descriptions = auto-trigger surface. Be specific.</a:t>
            </a:r>
            <a:endParaRPr lang="en-US" sz="1400" dirty="0"/>
          </a:p>
          <a:p>
            <a:pPr marL="0" indent="0">
              <a:buNone/>
            </a:pPr>
            <a:r>
              <a:rPr lang="en-US" sz="1100" i="1" dirty="0">
                <a:solidFill>
                  <a:srgbClr val="CCCCCC"/>
                </a:solidFill>
              </a:rPr>
              <a:t>vague description = fires on the wrong things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</a:rPr>
              <a:t> 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66FF66"/>
                </a:solidFill>
              </a:rPr>
              <a:t>Agents can't share intermediate state. Don't parallelize chains.</a:t>
            </a:r>
            <a:endParaRPr lang="en-US" sz="1400" dirty="0"/>
          </a:p>
          <a:p>
            <a:pPr marL="0" indent="0">
              <a:buNone/>
            </a:pPr>
            <a:r>
              <a:rPr lang="en-US" sz="1100" i="1" dirty="0">
                <a:solidFill>
                  <a:srgbClr val="CCCCCC"/>
                </a:solidFill>
              </a:rPr>
              <a:t>leak → calc → trigger is sequential, not parallel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</a:rPr>
              <a:t> 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66FF66"/>
                </a:solidFill>
              </a:rPr>
              <a:t>Verify flags by submitting to CTFd. Don't trust chat output.</a:t>
            </a:r>
            <a:endParaRPr lang="en-US" sz="1400" dirty="0"/>
          </a:p>
          <a:p>
            <a:pPr marL="0" indent="0">
              <a:buNone/>
            </a:pPr>
            <a:r>
              <a:rPr lang="en-US" sz="1100" i="1" dirty="0">
                <a:solidFill>
                  <a:srgbClr val="CCCCCC"/>
                </a:solidFill>
              </a:rPr>
              <a:t>models can hallucinate plausible-looking flags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</a:rPr>
              <a:t> 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66FF66"/>
                </a:solidFill>
              </a:rPr>
              <a:t>Author rule: if solve.py can't capture it, the challenge isn't ready.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</a:rPr>
              <a:t> 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66FF66"/>
                </a:solidFill>
              </a:rPr>
              <a:t>Don't auto-solve someone else's active CTF without permission.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39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cyber673</a:t>
            </a:r>
            <a:r>
              <a:rPr lang="en-US" sz="1000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× </a:t>
            </a:r>
            <a:r>
              <a:rPr lang="en-US" sz="1000" b="1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RE:HACK</a:t>
            </a:r>
            <a:r>
              <a:rPr lang="en-US" sz="1000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|   Agents &amp; Skills for CTF — 101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7589520" y="47091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339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 / 19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801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00F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cyber673</a:t>
            </a:r>
            <a:r>
              <a:rPr lang="en-US" sz="4600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×  </a:t>
            </a:r>
            <a:r>
              <a:rPr lang="en-US" sz="4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RE:HACK</a:t>
            </a:r>
            <a:endParaRPr lang="en-US" sz="4600" dirty="0"/>
          </a:p>
        </p:txBody>
      </p:sp>
      <p:sp>
        <p:nvSpPr>
          <p:cNvPr id="3" name="Shape 1"/>
          <p:cNvSpPr/>
          <p:nvPr/>
        </p:nvSpPr>
        <p:spPr>
          <a:xfrm>
            <a:off x="2743200" y="2103120"/>
            <a:ext cx="3657600" cy="45720"/>
          </a:xfrm>
          <a:prstGeom prst="rect">
            <a:avLst/>
          </a:prstGeom>
          <a:solidFill>
            <a:srgbClr val="00FF0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6200" y="2468880"/>
            <a:ext cx="1371600" cy="1371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3880725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FFFF"/>
                </a:solidFill>
              </a:rPr>
              <a:t>Now go capture some flags.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457200" y="42976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339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github.com/cyber673/clankerctf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96</TotalTime>
  <Words>1627</Words>
  <Application>Microsoft Macintosh PowerPoint</Application>
  <PresentationFormat>On-screen Show (16:9)</PresentationFormat>
  <Paragraphs>253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Agents &amp; Skills for CTF — 101</dc:title>
  <dc:subject>PptxGenJS Presentation</dc:subject>
  <dc:creator>cyber673</dc:creator>
  <cp:lastModifiedBy>Izdihar Sulaiman</cp:lastModifiedBy>
  <cp:revision>2</cp:revision>
  <dcterms:created xsi:type="dcterms:W3CDTF">2026-05-23T12:47:48Z</dcterms:created>
  <dcterms:modified xsi:type="dcterms:W3CDTF">2026-05-23T14:29:38Z</dcterms:modified>
</cp:coreProperties>
</file>